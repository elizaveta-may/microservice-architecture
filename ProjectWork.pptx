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950" y="0"/>
            <a:ext cx="921995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125" y="2113144"/>
            <a:ext cx="1787901" cy="284952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33125" y="553500"/>
            <a:ext cx="4161600" cy="415500"/>
          </a:xfrm>
          <a:custGeom>
            <a:avLst/>
            <a:gdLst/>
            <a:ahLst/>
            <a:cxnLst/>
            <a:rect l="l" t="t" r="r" b="b"/>
            <a:pathLst>
              <a:path w="4161600" h="415500">
                <a:moveTo>
                  <a:pt x="51938" y="0"/>
                </a:moveTo>
                <a:lnTo>
                  <a:pt x="4109662" y="0"/>
                </a:lnTo>
                <a:quadBezTo>
                  <a:pt x="4161600" y="0"/>
                  <a:pt x="4161600" y="51938"/>
                </a:quadBezTo>
                <a:lnTo>
                  <a:pt x="4161600" y="363563"/>
                </a:lnTo>
                <a:quadBezTo>
                  <a:pt x="4161600" y="415500"/>
                  <a:pt x="4109662" y="415500"/>
                </a:quadBezTo>
                <a:lnTo>
                  <a:pt x="51938" y="415500"/>
                </a:lnTo>
                <a:quadBezTo>
                  <a:pt x="0" y="415500"/>
                  <a:pt x="0" y="363563"/>
                </a:quadBezTo>
                <a:lnTo>
                  <a:pt x="0" y="51938"/>
                </a:lnTo>
                <a:quadBezTo>
                  <a:pt x="0" y="0"/>
                  <a:pt x="51938" y="0"/>
                </a:quadBezTo>
                <a:close/>
              </a:path>
            </a:pathLst>
          </a:custGeom>
          <a:solidFill>
            <a:srgbClr val="740FB4"/>
          </a:solidFill>
          <a:ln/>
          <a:effectLst>
            <a:outerShdw sx="100000" sy="100000" kx="0" ky="0" algn="bl" rotWithShape="0" blurRad="200025" dist="38100" dir="2700000">
              <a:srgbClr val="000000">
                <a:alpha val="27843"/>
              </a:srgbClr>
            </a:outerShdw>
          </a:effectLst>
        </p:spPr>
      </p:sp>
      <p:sp>
        <p:nvSpPr>
          <p:cNvPr id="6" name="Text 1"/>
          <p:cNvSpPr/>
          <p:nvPr/>
        </p:nvSpPr>
        <p:spPr>
          <a:xfrm>
            <a:off x="433125" y="553500"/>
            <a:ext cx="4161600" cy="415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75"/>
              </a:spcBef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318825" y="1890725"/>
            <a:ext cx="7584300" cy="177641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Платформа онлайн-записи и управления медицинскими услугами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572150" y="553500"/>
            <a:ext cx="434130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4F4F6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Microservice Architecture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550" y="821224"/>
            <a:ext cx="8520600" cy="2095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проекта</a:t>
            </a:r>
            <a:endParaRPr lang="en-US" sz="1500" dirty="0"/>
          </a:p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Тема: Платформа онлайн-записи и управления медицинскими услугами</a:t>
            </a:r>
            <a:endParaRPr lang="en-US" sz="1500" dirty="0"/>
          </a:p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endParaRPr lang="en-US" sz="1500" dirty="0"/>
          </a:p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endParaRPr lang="en-US" sz="1500" dirty="0"/>
          </a:p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99475" y="2746326"/>
            <a:ext cx="3701700" cy="48279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2250" b="1" dirty="0">
                <a:solidFill>
                  <a:srgbClr val="9857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Елизавета Майстрова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99475" y="3122213"/>
            <a:ext cx="5337300" cy="38576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75" dirty="0">
                <a:solidFill>
                  <a:srgbClr val="333333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.Net Developer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8550" y="348974"/>
            <a:ext cx="8520600" cy="3838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защиты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38125" y="1491302"/>
            <a:ext cx="3384900" cy="376200"/>
          </a:xfrm>
          <a:custGeom>
            <a:avLst/>
            <a:gdLst/>
            <a:ahLst/>
            <a:cxnLst/>
            <a:rect l="l" t="t" r="r" b="b"/>
            <a:pathLst>
              <a:path w="3384900" h="376200">
                <a:moveTo>
                  <a:pt x="47025" y="0"/>
                </a:moveTo>
                <a:lnTo>
                  <a:pt x="3337875" y="0"/>
                </a:lnTo>
                <a:quadBezTo>
                  <a:pt x="3384900" y="0"/>
                  <a:pt x="3384900" y="47025"/>
                </a:quadBezTo>
                <a:lnTo>
                  <a:pt x="3384900" y="329175"/>
                </a:lnTo>
                <a:quadBezTo>
                  <a:pt x="3384900" y="376200"/>
                  <a:pt x="3337875" y="376200"/>
                </a:quadBezTo>
                <a:lnTo>
                  <a:pt x="47025" y="376200"/>
                </a:lnTo>
                <a:quadBezTo>
                  <a:pt x="0" y="376200"/>
                  <a:pt x="0" y="329175"/>
                </a:quadBezTo>
                <a:lnTo>
                  <a:pt x="0" y="47025"/>
                </a:lnTo>
                <a:quadBezTo>
                  <a:pt x="0" y="0"/>
                  <a:pt x="47025" y="0"/>
                </a:quadBezTo>
                <a:close/>
              </a:path>
            </a:pathLst>
          </a:custGeom>
          <a:solidFill>
            <a:srgbClr val="EEEEEE"/>
          </a:solidFill>
          <a:ln/>
          <a:effectLst>
            <a:outerShdw sx="100000" sy="100000" kx="0" ky="0" algn="bl" rotWithShape="0" blurRad="57150" dist="25400" dir="2700000">
              <a:srgbClr val="000000">
                <a:alpha val="5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38125" y="1491302"/>
            <a:ext cx="3384900" cy="37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 и задачи проекта</a:t>
            </a:r>
            <a:pPr algn="l" indent="0" marL="0"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38125" y="2071492"/>
            <a:ext cx="3384900" cy="376200"/>
          </a:xfrm>
          <a:custGeom>
            <a:avLst/>
            <a:gdLst/>
            <a:ahLst/>
            <a:cxnLst/>
            <a:rect l="l" t="t" r="r" b="b"/>
            <a:pathLst>
              <a:path w="3384900" h="376200">
                <a:moveTo>
                  <a:pt x="47025" y="0"/>
                </a:moveTo>
                <a:lnTo>
                  <a:pt x="3337875" y="0"/>
                </a:lnTo>
                <a:quadBezTo>
                  <a:pt x="3384900" y="0"/>
                  <a:pt x="3384900" y="47025"/>
                </a:quadBezTo>
                <a:lnTo>
                  <a:pt x="3384900" y="329175"/>
                </a:lnTo>
                <a:quadBezTo>
                  <a:pt x="3384900" y="376200"/>
                  <a:pt x="3337875" y="376200"/>
                </a:quadBezTo>
                <a:lnTo>
                  <a:pt x="47025" y="376200"/>
                </a:lnTo>
                <a:quadBezTo>
                  <a:pt x="0" y="376200"/>
                  <a:pt x="0" y="329175"/>
                </a:quadBezTo>
                <a:lnTo>
                  <a:pt x="0" y="47025"/>
                </a:lnTo>
                <a:quadBezTo>
                  <a:pt x="0" y="0"/>
                  <a:pt x="47025" y="0"/>
                </a:quadBezTo>
                <a:close/>
              </a:path>
            </a:pathLst>
          </a:custGeom>
          <a:solidFill>
            <a:srgbClr val="EEEEEE"/>
          </a:solidFill>
          <a:ln/>
          <a:effectLst>
            <a:outerShdw sx="100000" sy="100000" kx="0" ky="0" algn="bl" rotWithShape="0" blurRad="57150" dist="25400" dir="2700000">
              <a:srgbClr val="000000">
                <a:alpha val="5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8125" y="2071492"/>
            <a:ext cx="3384900" cy="37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Какие технологии использовались</a:t>
            </a:r>
            <a:pPr algn="l" indent="0" marL="0"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38125" y="2651676"/>
            <a:ext cx="3384900" cy="376200"/>
          </a:xfrm>
          <a:custGeom>
            <a:avLst/>
            <a:gdLst/>
            <a:ahLst/>
            <a:cxnLst/>
            <a:rect l="l" t="t" r="r" b="b"/>
            <a:pathLst>
              <a:path w="3384900" h="376200">
                <a:moveTo>
                  <a:pt x="47025" y="0"/>
                </a:moveTo>
                <a:lnTo>
                  <a:pt x="3337875" y="0"/>
                </a:lnTo>
                <a:quadBezTo>
                  <a:pt x="3384900" y="0"/>
                  <a:pt x="3384900" y="47025"/>
                </a:quadBezTo>
                <a:lnTo>
                  <a:pt x="3384900" y="329175"/>
                </a:lnTo>
                <a:quadBezTo>
                  <a:pt x="3384900" y="376200"/>
                  <a:pt x="3337875" y="376200"/>
                </a:quadBezTo>
                <a:lnTo>
                  <a:pt x="47025" y="376200"/>
                </a:lnTo>
                <a:quadBezTo>
                  <a:pt x="0" y="376200"/>
                  <a:pt x="0" y="329175"/>
                </a:quadBezTo>
                <a:lnTo>
                  <a:pt x="0" y="47025"/>
                </a:lnTo>
                <a:quadBezTo>
                  <a:pt x="0" y="0"/>
                  <a:pt x="47025" y="0"/>
                </a:quadBezTo>
                <a:close/>
              </a:path>
            </a:pathLst>
          </a:custGeom>
          <a:solidFill>
            <a:srgbClr val="EEEEEE"/>
          </a:solidFill>
          <a:ln/>
          <a:effectLst>
            <a:outerShdw sx="100000" sy="100000" kx="0" ky="0" algn="bl" rotWithShape="0" blurRad="57150" dist="25400" dir="2700000">
              <a:srgbClr val="000000">
                <a:alpha val="5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38125" y="2651676"/>
            <a:ext cx="3384900" cy="37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 получилось</a:t>
            </a:r>
            <a:pPr algn="l" indent="0" marL="0"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38125" y="3246225"/>
            <a:ext cx="3384900" cy="376200"/>
          </a:xfrm>
          <a:custGeom>
            <a:avLst/>
            <a:gdLst/>
            <a:ahLst/>
            <a:cxnLst/>
            <a:rect l="l" t="t" r="r" b="b"/>
            <a:pathLst>
              <a:path w="3384900" h="376200">
                <a:moveTo>
                  <a:pt x="47025" y="0"/>
                </a:moveTo>
                <a:lnTo>
                  <a:pt x="3337875" y="0"/>
                </a:lnTo>
                <a:quadBezTo>
                  <a:pt x="3384900" y="0"/>
                  <a:pt x="3384900" y="47025"/>
                </a:quadBezTo>
                <a:lnTo>
                  <a:pt x="3384900" y="329175"/>
                </a:lnTo>
                <a:quadBezTo>
                  <a:pt x="3384900" y="376200"/>
                  <a:pt x="3337875" y="376200"/>
                </a:quadBezTo>
                <a:lnTo>
                  <a:pt x="47025" y="376200"/>
                </a:lnTo>
                <a:quadBezTo>
                  <a:pt x="0" y="376200"/>
                  <a:pt x="0" y="329175"/>
                </a:quadBezTo>
                <a:lnTo>
                  <a:pt x="0" y="47025"/>
                </a:lnTo>
                <a:quadBezTo>
                  <a:pt x="0" y="0"/>
                  <a:pt x="47025" y="0"/>
                </a:quadBezTo>
                <a:close/>
              </a:path>
            </a:pathLst>
          </a:custGeom>
          <a:solidFill>
            <a:srgbClr val="EEEEEE"/>
          </a:solidFill>
          <a:ln/>
          <a:effectLst>
            <a:outerShdw sx="100000" sy="100000" kx="0" ky="0" algn="bl" rotWithShape="0" blurRad="57150" dist="25400" dir="2700000">
              <a:srgbClr val="000000">
                <a:alpha val="5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38125" y="3246225"/>
            <a:ext cx="3384900" cy="37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Выводы</a:t>
            </a:r>
            <a:pPr algn="l" indent="0" marL="0"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38137" y="3772875"/>
            <a:ext cx="3384900" cy="376200"/>
          </a:xfrm>
          <a:custGeom>
            <a:avLst/>
            <a:gdLst/>
            <a:ahLst/>
            <a:cxnLst/>
            <a:rect l="l" t="t" r="r" b="b"/>
            <a:pathLst>
              <a:path w="3384900" h="376200">
                <a:moveTo>
                  <a:pt x="47025" y="0"/>
                </a:moveTo>
                <a:lnTo>
                  <a:pt x="3337875" y="0"/>
                </a:lnTo>
                <a:quadBezTo>
                  <a:pt x="3384900" y="0"/>
                  <a:pt x="3384900" y="47025"/>
                </a:quadBezTo>
                <a:lnTo>
                  <a:pt x="3384900" y="329175"/>
                </a:lnTo>
                <a:quadBezTo>
                  <a:pt x="3384900" y="376200"/>
                  <a:pt x="3337875" y="376200"/>
                </a:quadBezTo>
                <a:lnTo>
                  <a:pt x="47025" y="376200"/>
                </a:lnTo>
                <a:quadBezTo>
                  <a:pt x="0" y="376200"/>
                  <a:pt x="0" y="329175"/>
                </a:quadBezTo>
                <a:lnTo>
                  <a:pt x="0" y="47025"/>
                </a:lnTo>
                <a:quadBezTo>
                  <a:pt x="0" y="0"/>
                  <a:pt x="47025" y="0"/>
                </a:quadBezTo>
                <a:close/>
              </a:path>
            </a:pathLst>
          </a:custGeom>
          <a:solidFill>
            <a:srgbClr val="EEEEEE"/>
          </a:solidFill>
          <a:ln/>
          <a:effectLst>
            <a:outerShdw sx="100000" sy="100000" kx="0" ky="0" algn="bl" rotWithShape="0" blurRad="57150" dist="25400" dir="2700000">
              <a:srgbClr val="000000">
                <a:alpha val="5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38137" y="3772875"/>
            <a:ext cx="3384900" cy="37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Вопросы и рекомендации</a:t>
            </a:r>
            <a:pPr algn="l" indent="0" marL="0"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38125" y="1679402"/>
            <a:ext cx="600" cy="580200"/>
          </a:xfrm>
          <a:custGeom>
            <a:avLst/>
            <a:gdLst/>
            <a:ahLst/>
            <a:cxnLst/>
            <a:rect l="l" t="t" r="r" b="b"/>
            <a:pathLst>
              <a:path w="600" h="580200">
                <a:moveTo>
                  <a:pt x="0" y="0"/>
                </a:moveTo>
                <a:lnTo>
                  <a:pt x="0" y="290100"/>
                </a:lnTo>
                <a:lnTo>
                  <a:pt x="600" y="290100"/>
                </a:lnTo>
                <a:lnTo>
                  <a:pt x="600" y="580200"/>
                </a:lnTo>
              </a:path>
            </a:pathLst>
          </a:custGeom>
          <a:noFill/>
          <a:ln w="7144">
            <a:solidFill>
              <a:srgbClr val="9857F3"/>
            </a:solidFill>
            <a:prstDash val="dash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38125" y="2259592"/>
            <a:ext cx="600" cy="580200"/>
          </a:xfrm>
          <a:custGeom>
            <a:avLst/>
            <a:gdLst/>
            <a:ahLst/>
            <a:cxnLst/>
            <a:rect l="l" t="t" r="r" b="b"/>
            <a:pathLst>
              <a:path w="600" h="580200">
                <a:moveTo>
                  <a:pt x="0" y="0"/>
                </a:moveTo>
                <a:lnTo>
                  <a:pt x="0" y="290100"/>
                </a:lnTo>
                <a:lnTo>
                  <a:pt x="600" y="290100"/>
                </a:lnTo>
                <a:lnTo>
                  <a:pt x="600" y="580200"/>
                </a:lnTo>
              </a:path>
            </a:pathLst>
          </a:custGeom>
          <a:noFill/>
          <a:ln w="7144">
            <a:solidFill>
              <a:srgbClr val="9857F3"/>
            </a:solidFill>
            <a:prstDash val="dash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138125" y="2839776"/>
            <a:ext cx="600" cy="594600"/>
          </a:xfrm>
          <a:custGeom>
            <a:avLst/>
            <a:gdLst/>
            <a:ahLst/>
            <a:cxnLst/>
            <a:rect l="l" t="t" r="r" b="b"/>
            <a:pathLst>
              <a:path w="600" h="594600">
                <a:moveTo>
                  <a:pt x="0" y="0"/>
                </a:moveTo>
                <a:lnTo>
                  <a:pt x="0" y="297300"/>
                </a:lnTo>
                <a:lnTo>
                  <a:pt x="600" y="297300"/>
                </a:lnTo>
                <a:lnTo>
                  <a:pt x="600" y="594600"/>
                </a:lnTo>
              </a:path>
            </a:pathLst>
          </a:custGeom>
          <a:noFill/>
          <a:ln w="7144">
            <a:solidFill>
              <a:srgbClr val="9857F3"/>
            </a:solidFill>
            <a:prstDash val="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138125" y="3434325"/>
            <a:ext cx="600" cy="526800"/>
          </a:xfrm>
          <a:custGeom>
            <a:avLst/>
            <a:gdLst/>
            <a:ahLst/>
            <a:cxnLst/>
            <a:rect l="l" t="t" r="r" b="b"/>
            <a:pathLst>
              <a:path w="600" h="526800">
                <a:moveTo>
                  <a:pt x="0" y="0"/>
                </a:moveTo>
                <a:lnTo>
                  <a:pt x="0" y="263400"/>
                </a:lnTo>
                <a:lnTo>
                  <a:pt x="600" y="263400"/>
                </a:lnTo>
                <a:lnTo>
                  <a:pt x="600" y="526800"/>
                </a:lnTo>
              </a:path>
            </a:pathLst>
          </a:custGeom>
          <a:noFill/>
          <a:ln w="7144">
            <a:solidFill>
              <a:srgbClr val="9857F3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500" y="324881"/>
            <a:ext cx="8520600" cy="571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</a:t>
            </a:r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ь и задачи</a:t>
            </a:r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проекта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76582" y="1174529"/>
            <a:ext cx="8018258" cy="33909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проекта: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распределенной микросервисной системы для бронирования медицинских услуг с высокой надежностью, отказоустойчивостью и согласованностью данных при выполнении транзакций.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проекта: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Создать удобную платформу для записи и управления медицинскими услугами.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Дать бизнесу возможность управлять расписанием, услугами и медицинскими работниками.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</a:t>
            </a:r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Продемонстрировать приобретенные навыки, полученные в рамках курса.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500" y="324881"/>
            <a:ext cx="8520600" cy="571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Какие технологии использовались</a:t>
            </a:r>
            <a:endParaRPr lang="en-US" sz="1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552" y="2690776"/>
            <a:ext cx="1302897" cy="36481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893" y="1154417"/>
            <a:ext cx="754659" cy="75244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750" y="1906865"/>
            <a:ext cx="1393620" cy="78391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963" y="3342550"/>
            <a:ext cx="707194" cy="736417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2111" y="4323134"/>
            <a:ext cx="1121179" cy="44847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66" y="4213559"/>
            <a:ext cx="666643" cy="667621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223" y="3342550"/>
            <a:ext cx="1342039" cy="755568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8460" y="2027916"/>
            <a:ext cx="766661" cy="783911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1068" y="985814"/>
            <a:ext cx="969703" cy="969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500" y="324881"/>
            <a:ext cx="8520600" cy="571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Декомпозиция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76582" y="1174529"/>
            <a:ext cx="8018258" cy="24574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238125" indent="-238125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500" dirty="0"/>
          </a:p>
          <a:p>
            <a:pPr marL="238125" indent="-238125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AccessManagement Service</a:t>
            </a:r>
            <a:endParaRPr lang="en-US" sz="1500" dirty="0"/>
          </a:p>
          <a:p>
            <a:pPr marL="238125" indent="-238125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Service</a:t>
            </a:r>
            <a:endParaRPr lang="en-US" sz="1500" dirty="0"/>
          </a:p>
          <a:p>
            <a:pPr marL="238125" indent="-238125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Service</a:t>
            </a:r>
            <a:endParaRPr lang="en-US" sz="1500" dirty="0"/>
          </a:p>
          <a:p>
            <a:pPr marL="238125" indent="-238125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Service</a:t>
            </a:r>
            <a:endParaRPr lang="en-US" sz="1500" dirty="0"/>
          </a:p>
          <a:p>
            <a:pPr marL="238125" indent="-238125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Service</a:t>
            </a:r>
            <a:endParaRPr lang="en-US" sz="1500" dirty="0"/>
          </a:p>
          <a:p>
            <a:pPr marL="238125" indent="-238125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550" y="330724"/>
            <a:ext cx="8520600" cy="571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получилось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550" y="330724"/>
            <a:ext cx="8520600" cy="86007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3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62435" y="1305954"/>
            <a:ext cx="7454059" cy="376237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завершен успешно</a:t>
            </a:r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🎯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Освоила </a:t>
            </a:r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Kubernetes, RabbitMQ, Redis</a:t>
            </a:r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Впервые реализовала идемпотентность и сагу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Развернула микросервисы в Kubernetes, настроив автоматическое масштабирование и отказоустойчивость 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Реализовала полное тестирование API с использованием Postman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</a:t>
            </a:r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Планы:</a:t>
            </a:r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Расширить бизнес-логику 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Реализовать шардирование </a:t>
            </a:r>
            <a:endParaRPr lang="en-US" sz="15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Разработать UI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950" y="0"/>
            <a:ext cx="94087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50" y="1844625"/>
            <a:ext cx="7584300" cy="7057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39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Вопросы и рекомендации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214696" y="3061975"/>
            <a:ext cx="192750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есть вопросы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934996" y="3061975"/>
            <a:ext cx="214590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вопросов нет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3000" y="2846425"/>
            <a:ext cx="491700" cy="73625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42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43300" y="2846425"/>
            <a:ext cx="491700" cy="73625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42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613" y="528650"/>
            <a:ext cx="3356305" cy="12365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8038" y="685125"/>
            <a:ext cx="2679510" cy="762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Ответьте на вопросы одногруппников и преподавателей и получите обратную связь на свою работу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950" y="0"/>
            <a:ext cx="921995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113" y="1616723"/>
            <a:ext cx="595986" cy="59599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9000" y="1932525"/>
            <a:ext cx="7295100" cy="82569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4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4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pPr algn="l" indent="0" marL="0">
              <a:lnSpc>
                <a:spcPct val="8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2025-02-24T16:27:29Z</dcterms:created>
  <dcterms:modified xsi:type="dcterms:W3CDTF">2025-02-24T16:27:29Z</dcterms:modified>
</cp:coreProperties>
</file>